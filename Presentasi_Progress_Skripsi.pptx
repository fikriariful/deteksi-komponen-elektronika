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728655" cy="54864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0D4FF"/>
                </a:solidFill>
              </a:defRPr>
            </a:pPr>
            <a:r>
              <a:t>LAPORAN KEMAJUAN TUGAS AKHIR</a:t>
            </a:r>
          </a:p>
          <a:p>
            <a:pPr>
              <a:defRPr sz="3200" b="1">
                <a:solidFill>
                  <a:srgbClr val="F5F7FA"/>
                </a:solidFill>
              </a:defRPr>
            </a:pPr>
            <a:r>
              <a:t>Sistem Deteksi dan Pencatatan Komponen Elektronika Real-Time</a:t>
            </a:r>
          </a:p>
          <a:p>
            <a:pPr>
              <a:spcAft>
                <a:spcPts val="1600"/>
              </a:spcAft>
              <a:defRPr sz="2600" b="1">
                <a:solidFill>
                  <a:srgbClr val="FFD166"/>
                </a:solidFill>
              </a:defRPr>
            </a:pPr>
            <a:r>
              <a:t>Berbasis YOLOv8 dan Edge Computing (Raspberry Pi 4)</a:t>
            </a:r>
          </a:p>
          <a:p>
            <a:pPr>
              <a:defRPr sz="1500">
                <a:solidFill>
                  <a:srgbClr val="A0AEC0"/>
                </a:solidFill>
              </a:defRPr>
            </a:pPr>
            <a:r>
              <a:t>Implementasi Computer Vision pada Konveyor Laboratorium menggunakan Dataset ElectroCom61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389120"/>
            <a:ext cx="10728655" cy="1645920"/>
          </a:xfrm>
          <a:prstGeom prst="roundRect">
            <a:avLst/>
          </a:prstGeom>
          <a:solidFill>
            <a:srgbClr val="1C2438"/>
          </a:solidFill>
          <a:ln>
            <a:solidFill>
              <a:srgbClr val="2D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572000"/>
            <a:ext cx="101800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5F7FA"/>
                </a:solidFill>
              </a:defRPr>
            </a:pPr>
            <a:r>
              <a:t>Nama Peneliti : Ariful Fikri          |          NIM : 2307110474</a:t>
            </a:r>
          </a:p>
          <a:p>
            <a:pPr>
              <a:spcAft>
                <a:spcPts val="400"/>
              </a:spcAft>
              <a:defRPr sz="1400">
                <a:solidFill>
                  <a:srgbClr val="00D4FF"/>
                </a:solidFill>
              </a:defRPr>
            </a:pPr>
            <a:r>
              <a:t>Program Studi : Teknik Informatika   |   Fakultas Teknik, Universitas Riau</a:t>
            </a:r>
          </a:p>
          <a:p>
            <a:pPr>
              <a:defRPr sz="1300">
                <a:solidFill>
                  <a:srgbClr val="A0AEC0"/>
                </a:solidFill>
              </a:defRPr>
            </a:pPr>
            <a:r>
              <a:t>Tahun Akademik: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BAGIAN 1: MODEL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7FA"/>
                </a:solidFill>
              </a:defRPr>
            </a:pPr>
            <a:r>
              <a:t>Dataset &amp; Konfigurasi Pelatihan (Training YOLOv8n)</a:t>
            </a:r>
          </a:p>
          <a:p>
            <a:pPr>
              <a:defRPr sz="1300">
                <a:solidFill>
                  <a:srgbClr val="A0AEC0"/>
                </a:solidFill>
              </a:defRPr>
            </a:pPr>
            <a:r>
              <a:t>Proses pelatihan model deteksi objek untuk pengenalan 61 jenis komponen elektronika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C2438"/>
          </a:solidFill>
          <a:ln w="15240">
            <a:solidFill>
              <a:srgbClr val="2D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2926080" cy="4242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1. Karakteristik Dataset</a:t>
            </a:r>
          </a:p>
          <a:p>
            <a:pPr>
              <a:spcAft>
                <a:spcPts val="600"/>
              </a:spcAft>
              <a:defRPr sz="1000" b="1">
                <a:solidFill>
                  <a:srgbClr val="FFD166"/>
                </a:solidFill>
              </a:defRPr>
            </a:pPr>
            <a:r>
              <a:t>61 KELAS KOMPONEN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Dataset: ElectroCom61 (Kaggle Dataset resmi).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Total Citra: 2.121 gambar beranotasi bounding box presisi.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Cakupan Kelas: 61 varian komponen elektronika industri &amp; lab.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Kategori Komponen: Resistor, Kapasitor (Film/SMD/Elektrolit), Dioda, IC (DIP/SOP), Transistor, Sensor, hingga Modul Driver.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Pembagian Data: 3-Way Split (Train set 70%, Validation set 20%, Test set 10%).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C2438"/>
          </a:solidFill>
          <a:ln w="15240">
            <a:solidFill>
              <a:srgbClr val="2D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10512"/>
            <a:ext cx="2926080" cy="4242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2. Pemilihan Arsitektur</a:t>
            </a:r>
          </a:p>
          <a:p>
            <a:pPr>
              <a:spcAft>
                <a:spcPts val="600"/>
              </a:spcAft>
              <a:defRPr sz="1000" b="1">
                <a:solidFill>
                  <a:srgbClr val="FFD166"/>
                </a:solidFill>
              </a:defRPr>
            </a:pPr>
            <a:r>
              <a:t>EDGE AI COMPATIBLE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Arsitektur Model: YOLOv8 Nano (yolov8n.pt).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Ukuran Model Kompak: ~6.2 MB (sangat efisien di memori).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Alasan Pemilihan: Arsitektur teringan dengan rasio mAP/latensi terbaik untuk target perangkat CPU Edge (Raspberry Pi 4).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Anchor-Free Detection: Meningkatkan sensitivitas deteksi komponen komponen mikro/kecil pada citra konveyor.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Backbone: C2f Module untuk ekstraksi fitur yang kaya tanpa komputasi berat.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C2438"/>
          </a:solidFill>
          <a:ln w="15240">
            <a:solidFill>
              <a:srgbClr val="2D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10512"/>
            <a:ext cx="3017520" cy="4242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3. Konfigurasi Training</a:t>
            </a:r>
          </a:p>
          <a:p>
            <a:pPr>
              <a:spcAft>
                <a:spcPts val="600"/>
              </a:spcAft>
              <a:defRPr sz="1000" b="1">
                <a:solidFill>
                  <a:srgbClr val="FFD166"/>
                </a:solidFill>
              </a:defRPr>
            </a:pPr>
            <a:r>
              <a:t>OPTIMIZED HYPERPARAMETERS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Jumlah Epoch: 50 Epochs (konvergen optimal).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Early Stopping: Aktif (Patience = 10 epoch).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Batch Size: 8 (menyesuaikan kestabilan gradien).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Resolusi Input: 640 × 640 piksel.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Optimizer: Adam Optimizer dengan learning rate lr0 = 0.001.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Hardware Pelatihan: Laptop GPU NVIDIA GeForce GTX 1650 (4GB VRAM) menggunakan PyTorch CUDA.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BAGIAN 2: HASIL &amp; EVALUASI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7FA"/>
                </a:solidFill>
              </a:defRPr>
            </a:pPr>
            <a:r>
              <a:t>Evaluasi Akurasi &amp; Konversi Model ke ONNX Runtime</a:t>
            </a:r>
          </a:p>
          <a:p>
            <a:pPr>
              <a:defRPr sz="1300">
                <a:solidFill>
                  <a:srgbClr val="A0AEC0"/>
                </a:solidFill>
              </a:defRPr>
            </a:pPr>
            <a:r>
              <a:t>Validasi performa model pada data uji serta optimasi format untuk perangkat edge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1463040"/>
          </a:xfrm>
          <a:prstGeom prst="roundRect">
            <a:avLst/>
          </a:prstGeom>
          <a:solidFill>
            <a:srgbClr val="1C2438"/>
          </a:solidFill>
          <a:ln>
            <a:solidFill>
              <a:srgbClr val="2D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0AEC0"/>
                </a:solidFill>
              </a:defRPr>
            </a:pPr>
            <a:r>
              <a:t>mAP@0.5 (Val)</a:t>
            </a:r>
          </a:p>
          <a:p>
            <a:pPr>
              <a:defRPr sz="2800" b="1">
                <a:solidFill>
                  <a:srgbClr val="00D4FF"/>
                </a:solidFill>
              </a:defRPr>
            </a:pPr>
            <a:r>
              <a:t>91.64%</a:t>
            </a:r>
          </a:p>
          <a:p>
            <a:pPr>
              <a:defRPr sz="950">
                <a:solidFill>
                  <a:srgbClr val="A0AEC0"/>
                </a:solidFill>
              </a:defRPr>
            </a:pPr>
            <a:r>
              <a:t>Akurasi deteksi pada IoU 0.50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560320" cy="1463040"/>
          </a:xfrm>
          <a:prstGeom prst="roundRect">
            <a:avLst/>
          </a:prstGeom>
          <a:solidFill>
            <a:srgbClr val="1C2438"/>
          </a:solidFill>
          <a:ln>
            <a:solidFill>
              <a:srgbClr val="2D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17373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0AEC0"/>
                </a:solidFill>
              </a:defRPr>
            </a:pPr>
            <a:r>
              <a:t>mAP@0.5 (Test)</a:t>
            </a:r>
          </a:p>
          <a:p>
            <a:pPr>
              <a:defRPr sz="2800" b="1">
                <a:solidFill>
                  <a:srgbClr val="FFD166"/>
                </a:solidFill>
              </a:defRPr>
            </a:pPr>
            <a:r>
              <a:t>89.65%</a:t>
            </a:r>
          </a:p>
          <a:p>
            <a:pPr>
              <a:defRPr sz="950">
                <a:solidFill>
                  <a:srgbClr val="A0AEC0"/>
                </a:solidFill>
              </a:defRPr>
            </a:pPr>
            <a:r>
              <a:t>Evaluasi pada citra data uji baru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645920"/>
            <a:ext cx="2560320" cy="1463040"/>
          </a:xfrm>
          <a:prstGeom prst="roundRect">
            <a:avLst/>
          </a:prstGeom>
          <a:solidFill>
            <a:srgbClr val="1C2438"/>
          </a:solidFill>
          <a:ln>
            <a:solidFill>
              <a:srgbClr val="2D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17373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0AEC0"/>
                </a:solidFill>
              </a:defRPr>
            </a:pPr>
            <a:r>
              <a:t>Precision</a:t>
            </a:r>
          </a:p>
          <a:p>
            <a:pPr>
              <a:defRPr sz="2800" b="1">
                <a:solidFill>
                  <a:srgbClr val="10B981"/>
                </a:solidFill>
              </a:defRPr>
            </a:pPr>
            <a:r>
              <a:t>87.23%</a:t>
            </a:r>
          </a:p>
          <a:p>
            <a:pPr>
              <a:defRPr sz="950">
                <a:solidFill>
                  <a:srgbClr val="A0AEC0"/>
                </a:solidFill>
              </a:defRPr>
            </a:pPr>
            <a:r>
              <a:t>Ketepatan identifikasi jenis komponen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645920"/>
            <a:ext cx="2560320" cy="1463040"/>
          </a:xfrm>
          <a:prstGeom prst="roundRect">
            <a:avLst/>
          </a:prstGeom>
          <a:solidFill>
            <a:srgbClr val="1C2438"/>
          </a:solidFill>
          <a:ln>
            <a:solidFill>
              <a:srgbClr val="2D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3416" y="17373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0AEC0"/>
                </a:solidFill>
              </a:defRPr>
            </a:pPr>
            <a:r>
              <a:t>Recall</a:t>
            </a:r>
          </a:p>
          <a:p>
            <a:pPr>
              <a:defRPr sz="2800" b="1">
                <a:solidFill>
                  <a:srgbClr val="00D4FF"/>
                </a:solidFill>
              </a:defRPr>
            </a:pPr>
            <a:r>
              <a:t>89.74%</a:t>
            </a:r>
          </a:p>
          <a:p>
            <a:pPr>
              <a:defRPr sz="950">
                <a:solidFill>
                  <a:srgbClr val="A0AEC0"/>
                </a:solidFill>
              </a:defRPr>
            </a:pPr>
            <a:r>
              <a:t>Sensitivitas penemuan objek di frame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91840"/>
            <a:ext cx="5212080" cy="3017520"/>
          </a:xfrm>
          <a:prstGeom prst="roundRect">
            <a:avLst/>
          </a:prstGeom>
          <a:solidFill>
            <a:srgbClr val="1C2438"/>
          </a:solidFill>
          <a:ln w="15240">
            <a:solidFill>
              <a:srgbClr val="2D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456432"/>
            <a:ext cx="4846320" cy="2688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Analisis Performa Model</a:t>
            </a:r>
          </a:p>
          <a:p>
            <a:pPr>
              <a:spcAft>
                <a:spcPts val="600"/>
              </a:spcAft>
              <a:defRPr sz="1000" b="1">
                <a:solidFill>
                  <a:srgbClr val="FFD166"/>
                </a:solidFill>
              </a:defRPr>
            </a:pPr>
            <a:r>
              <a:t>EVALUASI METRIK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Skor F1-Score mencapai 88.47%, membuktikan keseimbangan yang kuat antara Presisi dan Recall.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mAP@0.5:0.95 bernilai 58.82% — membuktikan ketepatan bounding box bahkan pada ambang batas IoU ketat.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Kategori komponen pasif (Resistor, Kapasitor) terdeteksi stabil tanpa false positive berlebih.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Model mampu membedakan bentuk fisik komponen modul (mis: Relay Module vs Motor Driver) dengan akurat.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291840"/>
            <a:ext cx="5212080" cy="3017520"/>
          </a:xfrm>
          <a:prstGeom prst="roundRect">
            <a:avLst/>
          </a:prstGeom>
          <a:solidFill>
            <a:srgbClr val="1C2438"/>
          </a:solidFill>
          <a:ln w="15240">
            <a:solidFill>
              <a:srgbClr val="2D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456432"/>
            <a:ext cx="4846320" cy="2688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Konversi Model: PyTorch (.pt) ➔ ONNX Runtime</a:t>
            </a:r>
          </a:p>
          <a:p>
            <a:pPr>
              <a:spcAft>
                <a:spcPts val="600"/>
              </a:spcAft>
              <a:defRPr sz="1000" b="1">
                <a:solidFill>
                  <a:srgbClr val="FFD166"/>
                </a:solidFill>
              </a:defRPr>
            </a:pPr>
            <a:r>
              <a:t>CROSS-PLATFORM DEPLOYMENT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Format Target: Open Neural Network Exchange (best.onnx ~12.3 MB).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Eliminasi Dependensi Berat: Menghilangkan kebutuhan instalasi PyTorch GPU (~3GB) di OS Raspberry Pi.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Eksekusi Mandiri: Dijalankan via ONNX Runtime CPUExecutionProvider yang dioptimalkan untuk instruksi CPU ARM.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Warmup Execution: Diuji 1x inferensi kosong saat boot untuk mengalokasikan memory pool agar frame pertama bebas lag.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FITUR APLIKASI 1: LOGIKA CERDAS INSPEKSI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7FA"/>
                </a:solidFill>
              </a:defRPr>
            </a:pPr>
            <a:r>
              <a:t>Zona Inspeksi (ROI) &amp; Algoritma Debouncing</a:t>
            </a:r>
          </a:p>
          <a:p>
            <a:pPr>
              <a:defRPr sz="1300">
                <a:solidFill>
                  <a:srgbClr val="A0AEC0"/>
                </a:solidFill>
              </a:defRPr>
            </a:pPr>
            <a:r>
              <a:t>Mekanisme pelacakan posisi dan pencegahan pencatatan data ganda pada konveyor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C2438"/>
          </a:solidFill>
          <a:ln w="15240">
            <a:solidFill>
              <a:srgbClr val="2D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2926080" cy="4242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1. Konfigurasi Area ROI</a:t>
            </a:r>
          </a:p>
          <a:p>
            <a:pPr>
              <a:spcAft>
                <a:spcPts val="600"/>
              </a:spcAft>
              <a:defRPr sz="1000" b="1">
                <a:solidFill>
                  <a:srgbClr val="FFD166"/>
                </a:solidFill>
              </a:defRPr>
            </a:pPr>
            <a:r>
              <a:t>BOUNDING REGION OF INTEREST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Area Zona Inspeksi: Kotak persegi kuning di tengah frame citra.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Rentang Koordinat Normalisasi: (ROI = 0.25, 0.75, 0.1, 0.9).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Cakupan Fisik: Mengawasi 50% lebar tengah dan 80% tinggi frame kamera konveyor.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Filter Fokus Inspeksi: Mencegah komponen di tepi luar konveyor atau objek latar belakang tidak sengaja tercatat ke database.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Perhitungan Titik Pusat: Titik (cx, cy) dihitung dari rata-rata batas bounding box (x1+x2)/2 dan (y1+y2)/2.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C2438"/>
          </a:solidFill>
          <a:ln w="15240">
            <a:solidFill>
              <a:srgbClr val="2D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10512"/>
            <a:ext cx="2926080" cy="4242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2. Pembeda Visual Frame</a:t>
            </a:r>
          </a:p>
          <a:p>
            <a:pPr>
              <a:spcAft>
                <a:spcPts val="600"/>
              </a:spcAft>
              <a:defRPr sz="1000" b="1">
                <a:solidFill>
                  <a:srgbClr val="FFD166"/>
                </a:solidFill>
              </a:defRPr>
            </a:pPr>
            <a:r>
              <a:t>STATE VISUALIZATION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Objek di DALAM Zona Inspeksi: Ditandai bounding box berwarna cerah, aksen siku di setiap sudut, dan label nama kelas + nilai akurasi.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Objek di LUAR Zona Inspeksi: Ditandai bounding box abu-abu tipis (150, 150, 150) sebagai status monitoring pasif.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Tracking Aktif: Selama berada dalam zona, data komponen disimpan di memory buffer active_tracking.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Pembaruan Nilai Akurasi: Sistem terus memperbarui nilai confidence tertinggi yang pernah terbaca selama komponen melintas.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C2438"/>
          </a:solidFill>
          <a:ln w="15240">
            <a:solidFill>
              <a:srgbClr val="2D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10512"/>
            <a:ext cx="3017520" cy="4242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3. Logika Debounce (EXIT_DELAY)</a:t>
            </a:r>
          </a:p>
          <a:p>
            <a:pPr>
              <a:spcAft>
                <a:spcPts val="600"/>
              </a:spcAft>
              <a:defRPr sz="1000" b="1">
                <a:solidFill>
                  <a:srgbClr val="FFD166"/>
                </a:solidFill>
              </a:defRPr>
            </a:pPr>
            <a:r>
              <a:t>ANTI-DUPLIKASI 1.0 DETIK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Toleransi Waktu Keluar: Parameter EXIT_DELAY = 1.0 detik.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Alur Pencatatan Database: Ketika komponen meninggalkan zona atau hilang dari frame kamera, timer 1 detik mulai berjalan.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Trigger Simpan SQLite: Jika komponen tidak terdeteksi lagi setelah &gt; 1.0 detik, data dicatat TEPAT 1 KALI ke tabel deteksi.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Solusi Masalah Nyata: Mencegah pencatatan ganda ratusan kali jika komponen diam atau berjalan pelan di konveyor.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Reset Otomatis: Entri active_tracking dihapus agar komponen sejenis berikutnya dapat dicatat kembali.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FITUR APLIKASI 2: ABSTRAKSI PERANGKAT KERAS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7FA"/>
                </a:solidFill>
              </a:defRPr>
            </a:pPr>
            <a:r>
              <a:t>Pipeline Fleksibilitas Multi-Kamera &amp; Zero-Latency</a:t>
            </a:r>
          </a:p>
          <a:p>
            <a:pPr>
              <a:defRPr sz="1300">
                <a:solidFill>
                  <a:srgbClr val="A0AEC0"/>
                </a:solidFill>
              </a:defRPr>
            </a:pPr>
            <a:r>
              <a:t>Arsitektur penanganan beragam hardware kamera secara mandiri dan bebas buffer delay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C2438"/>
          </a:solidFill>
          <a:ln w="15240">
            <a:solidFill>
              <a:srgbClr val="2D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2926080" cy="4242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1. Fleksibilitas 3 Input Kamera</a:t>
            </a:r>
          </a:p>
          <a:p>
            <a:pPr>
              <a:spcAft>
                <a:spcPts val="600"/>
              </a:spcAft>
              <a:defRPr sz="1000" b="1">
                <a:solidFill>
                  <a:srgbClr val="FFD166"/>
                </a:solidFill>
              </a:defRPr>
            </a:pPr>
            <a:r>
              <a:t>UNIVERSAL CAMERA SUPPORT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Pilihan 1: Raspberry Pi Camera Rev 1.3 (CSI Ribbon Cable) langsung via library resmi Picamera2.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Pilihan 2: Webcam USB Eksternal (Kamera 1) melalui driver OpenCV V4L2.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Pilihan 3: IP Camera / DroidCam WiFi melalui protokol stream HTTP/RTSP nirkabel dari smartphone.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Seleksi Dinamis: Sumber kamera dapat diganti sewaktu-waktu melalui menu dropdown antarmuka web dashboard.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Kompatibilitas Lintas OS: Berjalan mulus di Linux (Raspberry Pi OS) maupun Windows (Laptop).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C2438"/>
          </a:solidFill>
          <a:ln w="15240">
            <a:solidFill>
              <a:srgbClr val="2D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10512"/>
            <a:ext cx="2926080" cy="4242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2. Warmup Retry &amp; V4L2 Scanner</a:t>
            </a:r>
          </a:p>
          <a:p>
            <a:pPr>
              <a:spcAft>
                <a:spcPts val="600"/>
              </a:spcAft>
              <a:defRPr sz="1000" b="1">
                <a:solidFill>
                  <a:srgbClr val="FFD166"/>
                </a:solidFill>
              </a:defRPr>
            </a:pPr>
            <a:r>
              <a:t>ROBUST HARDWARE INIT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Masalah Linux V4L2: Di Raspberry Pi, node /dev/video0 &amp; /dev/video1 sering kali adalah hardware codec, bukan capture sensor fisik.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Pemindaian Otomatis: Skrip CameraStream memindai seluruh node /dev/video* yang tersedia untuk menemukan kamera fisik aktif.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Warmup Retry Polling: Melakukan percobaan pembacaan hingga 15 kali (1.5 detik) saat inisialisasi sensor.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Pencegahan Crash: Menghilangkan error ioctl dan memastikan sensor kamera terkalibrasi sebelum video disiarkan.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Suppression Log: Menyembunyikan log fatal V4L2 agar terminal tetap bersih.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C2438"/>
          </a:solidFill>
          <a:ln w="15240">
            <a:solidFill>
              <a:srgbClr val="2D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10512"/>
            <a:ext cx="3017520" cy="4242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3. Threaded Zero-Latency Capture</a:t>
            </a:r>
          </a:p>
          <a:p>
            <a:pPr>
              <a:spcAft>
                <a:spcPts val="600"/>
              </a:spcAft>
              <a:defRPr sz="1000" b="1">
                <a:solidFill>
                  <a:srgbClr val="FFD166"/>
                </a:solidFill>
              </a:defRPr>
            </a:pPr>
            <a:r>
              <a:t>REAL-TIME RESPONSIVENESS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Masalah cv2.VideoCapture Default: Pemanggilan cap.read() secara synchronous menyebabkan antrean frame usang (lag buffer bertumpuk).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Solusi Dedicated Thread: Class CameraStream menjalankan daemon thread terpisah yang terus menerus membaca sensor hardware.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Bufferless Snapshot: Thread utama inferensi AI selalu mengambil frame terbaru instan tanpa menunggu hardware kamera.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Sinkronisasi Mutex: Memastikan tidak terjadi perebutan resource memory (race condition) antara thread kamera dan web server.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FITUR APLIKASI 3: ANTARMUKA &amp; TELEMETRI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7FA"/>
                </a:solidFill>
              </a:defRPr>
            </a:pPr>
            <a:r>
              <a:t>Web Dashboard Real-Time, Kontrol Sesi &amp; Ekspor Data</a:t>
            </a:r>
          </a:p>
          <a:p>
            <a:pPr>
              <a:defRPr sz="1300">
                <a:solidFill>
                  <a:srgbClr val="A0AEC0"/>
                </a:solidFill>
              </a:defRPr>
            </a:pPr>
            <a:r>
              <a:t>Antarmuka pengguna industrial dengan pemisahan saluran video dan data telemetri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C2438"/>
          </a:solidFill>
          <a:ln w="15240">
            <a:solidFill>
              <a:srgbClr val="2D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2926080" cy="4242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1. Dual-Channel Streaming</a:t>
            </a:r>
          </a:p>
          <a:p>
            <a:pPr>
              <a:spcAft>
                <a:spcPts val="600"/>
              </a:spcAft>
              <a:defRPr sz="1000" b="1">
                <a:solidFill>
                  <a:srgbClr val="FFD166"/>
                </a:solidFill>
              </a:defRPr>
            </a:pPr>
            <a:r>
              <a:t>MJPEG + SSE ARCHITECTURE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Saluran 1 - Visual Feed: Protokol HTTP MJPEG multipart/x-mixed-replace pada endpoint /video/stream dengan interval 40ms (~25 FPS stabil).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Saluran 2 - Telemetri AI: Protokol Server-Sent Events (SSE) text/event-stream pada endpoint /results/stream.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Push Data Real-Time: Data telemetri (waktu inferensi ms, daftar objek, log event, barang baru) di-push otomatis ke browser tanpa polling berulang.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Ringan di Jaringan: Tidak memerlukan WebSocket berlebih, bekerja optimal di jaringan lokal WiFi laboratorium.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C2438"/>
          </a:solidFill>
          <a:ln w="15240">
            <a:solidFill>
              <a:srgbClr val="2D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10512"/>
            <a:ext cx="2926080" cy="4242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2. Manajemen Sesi Pengujian</a:t>
            </a:r>
          </a:p>
          <a:p>
            <a:pPr>
              <a:spcAft>
                <a:spcPts val="600"/>
              </a:spcAft>
              <a:defRPr sz="1000" b="1">
                <a:solidFill>
                  <a:srgbClr val="FFD166"/>
                </a:solidFill>
              </a:defRPr>
            </a:pPr>
            <a:r>
              <a:t>DYNAMIC SESSION CONTROL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Tombol 'Mulai Deteksi': Mengaktifkan kamera, memicu thread inferensi YOLO, dan otomatis mengosongkan tabel riwayat sesi sebelumnya.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Data Bersih Setiap Pengujian: Mencegah data komponen dari batch pengujian lama bercampur dengan pengujian baru.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Slider Sensitivitas Real-Time: Nilai confidence threshold (default 50%) dapat disesuaikan langsung (5%–95%) melalui slider.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Adaptif Pencahayaan: Mempermudah penyesuaian jika kondisi cahaya lampu laboratorium berubah tanpa restart aplikasi.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C2438"/>
          </a:solidFill>
          <a:ln w="15240">
            <a:solidFill>
              <a:srgbClr val="2D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10512"/>
            <a:ext cx="3017520" cy="4242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3. Penyimpanan &amp; Ekspor Data</a:t>
            </a:r>
          </a:p>
          <a:p>
            <a:pPr>
              <a:spcAft>
                <a:spcPts val="600"/>
              </a:spcAft>
              <a:defRPr sz="1000" b="1">
                <a:solidFill>
                  <a:srgbClr val="FFD166"/>
                </a:solidFill>
              </a:defRPr>
            </a:pPr>
            <a:r>
              <a:t>AUTOMATIC REPORT EXPORT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Database Lokal: SQLite3 (data/history.db) — menyimpan kolom ID, Waktu (YYYY-MM-DD HH:MM:SS), Kelas Komponen, dan Confidence.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Ekspor Otomatis: Saat tombol 'Hentikan' ditekan, sistem menampilkan popup konfirmasi untuk mengunduh laporan pengujian.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Format CSV/Excel: Endpoint /api/history/export menghasilkan file CSV langsung dari memory buffer.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Encoding utf-8-sig: Dilengkapi Byte Order Mark (BOM) agar tabel terbuka rapi dan terbaca sempurna di Microsoft Excel.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FITUR APLIKASI 4: KOMPUTASI 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7FA"/>
                </a:solidFill>
              </a:defRPr>
            </a:pPr>
            <a:r>
              <a:t>Optimasi Khusus Perangkat Raspberry Pi 4</a:t>
            </a:r>
          </a:p>
          <a:p>
            <a:pPr>
              <a:defRPr sz="1300">
                <a:solidFill>
                  <a:srgbClr val="A0AEC0"/>
                </a:solidFill>
              </a:defRPr>
            </a:pPr>
            <a:r>
              <a:t>Strategi rekayasa perangkat lunak untuk menjaga kestabilan sistem pada hardware CPU terbatas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C2438"/>
          </a:solidFill>
          <a:ln w="15240">
            <a:solidFill>
              <a:srgbClr val="2D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2926080" cy="4242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1. Resolusi Tensor 320×320</a:t>
            </a:r>
          </a:p>
          <a:p>
            <a:pPr>
              <a:spcAft>
                <a:spcPts val="600"/>
              </a:spcAft>
              <a:defRPr sz="1000" b="1">
                <a:solidFill>
                  <a:srgbClr val="FFD166"/>
                </a:solidFill>
              </a:defRPr>
            </a:pPr>
            <a:r>
              <a:t>4X INFERENCE SPEEDUP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Parameter: IMGSZ = 320 (Default kode).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Penurunan Kompleksitas Komputasi: Resolusi 320×320 mengurangi jumlah operasi perkalian matriks hingga 4× lipat dibandingkan 640×640.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Kecepatan Inferensi: Menurunkan latensi eksekusi dari ~450ms menjadi ~120-150ms per frame pada prosesor ARM Cortex-A72.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Akurasi Terjaga: Struktur komponen elektronika pada dataset tetap terdeteksi dengan jelas pada skala resolusi ini.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C2438"/>
          </a:solidFill>
          <a:ln w="15240">
            <a:solidFill>
              <a:srgbClr val="2D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10512"/>
            <a:ext cx="2926080" cy="4242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2. Mekanisme Frame Skipping</a:t>
            </a:r>
          </a:p>
          <a:p>
            <a:pPr>
              <a:spcAft>
                <a:spcPts val="600"/>
              </a:spcAft>
              <a:defRPr sz="1000" b="1">
                <a:solidFill>
                  <a:srgbClr val="FFD166"/>
                </a:solidFill>
              </a:defRPr>
            </a:pPr>
            <a:r>
              <a:t>FRAME_SKIP = 3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Parameter: FRAME_SKIP = 3 (Default kode).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Prinsip Kerja: Inferensi neural network hanya dieksekusi 1 kali pada setiap 3 frame kamera (~10 kali/detik dari kamera 30 FPS).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Hemat Siklus CPU: Menghilangkan 66% beban kalkulasi inferensi yang tidak perlu.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Video Tetap Halus: Pada 2 frame yang dilewati, sistem tetap me-render frame visual dengan koordinat deteksi terakhir.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Hasil: Tampilan video di browser tetap mulus dan bebas patah-patah.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C2438"/>
          </a:solidFill>
          <a:ln w="15240">
            <a:solidFill>
              <a:srgbClr val="2D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10512"/>
            <a:ext cx="3017520" cy="4242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3. Throttle 10ms &amp; Efisiensi Memori</a:t>
            </a:r>
          </a:p>
          <a:p>
            <a:pPr>
              <a:spcAft>
                <a:spcPts val="600"/>
              </a:spcAft>
              <a:defRPr sz="1000" b="1">
                <a:solidFill>
                  <a:srgbClr val="FFD166"/>
                </a:solidFill>
              </a:defRPr>
            </a:pPr>
            <a:r>
              <a:t>ANTI-OVERHEATING &amp; STABLE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Jeda Mikro CPU: Penerapan time.sleep(0.01) (10 milidetik) pada setiap akhir iterasi loop utama.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Pencegahan Thermal Throttling: Mencegah CPU core berada pada utilisasi 100% konstan yang menyebabkan panas berlebih (overheat) dan freeze.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Kualitas JPEG Optimal: Kompresi JPEG_QUALITY = 65 menghemat throughput bandwidth WiFi lokal.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Bebas Dependensi Raksasa: Menghilangkan dependensi PyTorch GPU sehingga aplikasi aman di MicroSD 16GB.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BAGIAN 4: KESIMPULAN PROGRES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7FA"/>
                </a:solidFill>
              </a:defRPr>
            </a:pPr>
            <a:r>
              <a:t>Status Capaian Progres &amp; Rencana Pengujian Lanjutan</a:t>
            </a:r>
          </a:p>
          <a:p>
            <a:pPr>
              <a:defRPr sz="1300">
                <a:solidFill>
                  <a:srgbClr val="A0AEC0"/>
                </a:solidFill>
              </a:defRPr>
            </a:pPr>
            <a:r>
              <a:t>Rekapitulasi pekerjaan yang telah diselesaikan serta target pengujian menuju sidang akhir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C2438"/>
          </a:solidFill>
          <a:ln w="15240">
            <a:solidFill>
              <a:srgbClr val="2D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846320" cy="4242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Capaian yang Telah Diselesaikan (100%)</a:t>
            </a:r>
          </a:p>
          <a:p>
            <a:pPr>
              <a:spcAft>
                <a:spcPts val="600"/>
              </a:spcAft>
              <a:defRPr sz="1000" b="1">
                <a:solidFill>
                  <a:srgbClr val="FFD166"/>
                </a:solidFill>
              </a:defRPr>
            </a:pPr>
            <a:r>
              <a:t>MILESTONES COMPLETED (100%)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Pelatihan &amp; Verifikasi Model AI: Model YOLOv8n terlatih 50 epoch pada 61 kelas dengan mAP@0.5 mencapai 91.64%.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Ekspor ONNX Runtime: Model berhasil dioptimalkan ke format ONNX dan berjalan mandiri via CPU tanpa PyTorch GPU.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Implementasi Logika ROI &amp; Debounce: Logika zona kuning dan delay keluar 1.0 detik sukses mengeliminasi pencatatan data ganda.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Integrasi Hardware Raspberry Pi: Berhasil mengintegrasikan modul Raspberry Pi Camera Rev 1.3 via Picamera2.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Pengembangan Web Dashboard: Tampilan dark-mode industrial dengan streaming MJPEG, SSE telemetri, dan ekspor CSV selesai 100%.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Dokumentasi &amp; Versi Kode: Repositori GitHub telah terorganisir rapi dengan petunjuk instalasi dan referensi ilmiah.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C2438"/>
          </a:solidFill>
          <a:ln w="15240">
            <a:solidFill>
              <a:srgbClr val="2D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10512"/>
            <a:ext cx="4846320" cy="4242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Rencana Pengujian Lanjutan (Next Steps)</a:t>
            </a:r>
          </a:p>
          <a:p>
            <a:pPr>
              <a:spcAft>
                <a:spcPts val="600"/>
              </a:spcAft>
              <a:defRPr sz="1000" b="1">
                <a:solidFill>
                  <a:srgbClr val="FFD166"/>
                </a:solidFill>
              </a:defRPr>
            </a:pPr>
            <a:r>
              <a:t>ACTION PLAN SKU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Pengujian Variasi Kecepatan Konveyor: Menguji akurasi deteksi model pada kecepatan putaran treadmill lambat, sedang, dan cepat.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Pengujian Variasi Pencahayaan: Menguji ketahanan akurasi pada berbagai intensitas cahaya lux lampu laboratorium.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Uji Ketahanan Durasi Operasional (Stress-Test): Menjalankan sistem selama 1-2 jam kontinu untuk memantau stabilitas suhu CPU Raspberry Pi 4.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Penyusunan Naskah Skripsi: Melengkapi penulisan Bab 4 (Hasil dan Pembahasan) serta Bab 5 (Kesimpulan dan Saran) berdasarkan data pengujian lapangan.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>
                <a:solidFill>
                  <a:srgbClr val="F5F7FA"/>
                </a:solidFill>
              </a:defRPr>
            </a:pPr>
            <a:r>
              <a:t>• Persiapan Sidang Akhir: Pembuatan video demo operasional sistem pada konveyor laboratorium.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